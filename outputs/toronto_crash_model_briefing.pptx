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Toronto Road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2C39A"/>
                </a:solidFill>
                <a:latin typeface="Calibri"/>
              </a:rPr>
              <a:t>Risk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CF5"/>
                </a:solidFill>
                <a:latin typeface="Calibri"/>
              </a:rPr>
              <a:t>Output Folder Briefing  |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07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Predicting when and where crashes happen — so we can prevent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914400"/>
            <a:ext cx="164592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914400"/>
            <a:ext cx="16459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91440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37744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21945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Calibri"/>
              </a:rPr>
              <a:t>+566%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6806"/>
            <a:ext cx="2194560" cy="59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Better than random
at identifying risky roads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097280"/>
            <a:ext cx="2377440" cy="1417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170432"/>
            <a:ext cx="21945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76806"/>
            <a:ext cx="2194560" cy="59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all crashes captured
by flagging top 5% of roads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237744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170432"/>
            <a:ext cx="21945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Calibri"/>
              </a:rPr>
              <a:t>4,475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76806"/>
            <a:ext cx="2194560" cy="59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unique Toronto road
segments evaluated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We trained a machine learning model on 4+ years of Toronto crash data (2021–2025) to score every road segment by crash risk — by hour, weather, and road type. Three models competed: a naive average, a historical rate baseline, and our gradient boosting model (HistGBR). The ML model's key advantage is temporal precision — it knows not just which roads are dangerous, but exactly when.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Research &amp; Validation Phase  |  Toronto Centreline v2  |  4-Year Test Window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What's in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2ECF5"/>
                </a:solidFill>
                <a:latin typeface="Calibri"/>
              </a:rPr>
              <a:t>Three folders — each serving a different audience and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27432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7432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/>
              </a:rPr>
              <a:t>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664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488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Geographic outputs for visual exploration &amp; system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24912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toronto_risk_map.html  →  Interactive browser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72384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toronto_road_risk.geojson  →  Full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419856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toronto_high_risk_roads.geojson  →  Flagged roads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508760"/>
            <a:ext cx="27432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508760"/>
            <a:ext cx="27432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1664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1488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Trained ML models ready to score new road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724912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toronto_temporal_count_model.pkl  →  Primary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072384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toronto_risk_model.joblib  →  Alternate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419856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Load either file to make live predictions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08760"/>
            <a:ext cx="27432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508760"/>
            <a:ext cx="2743200" cy="73152"/>
          </a:xfrm>
          <a:prstGeom prst="rect">
            <a:avLst/>
          </a:prstGeom>
          <a:solidFill>
            <a:srgbClr val="F0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93B"/>
                </a:solidFill>
                <a:latin typeface="Calibri"/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664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14884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Analysis documents: data quality, model performance, business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724912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01_data_integrity_report.md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072384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02_model_bake_off_report.md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19856"/>
            <a:ext cx="2542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03_business_impact_report.md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📁  Maps Folder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40233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4008" cy="3749039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Files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toronto_risk_map.html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Interactive browser map — open in Chrome or Safari to explore Toronto road risk visually. No software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toronto_road_risk.geojson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Full scored road network. Machine-readable standard format (GeoJSON) for GIS tools, dashboards, or routing 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toronto_high_risk_roads.geojson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Pre-filtered to the highest-risk segments only. Ready to load into any mapping or routing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51560"/>
            <a:ext cx="4114800" cy="3749039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051560"/>
            <a:ext cx="64008" cy="3749039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115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This 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544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These are the final, actionable answers — geographic risk scores for every road in Toronto.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The HTML map is built for non-technical stakeholders. Anyone can open it in a browser and explore which roads are flagged high-risk.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The GeoJSON files are plug-and-play for developers — load directly into Mapbox, QGIS, Leaflet, or any routing engine.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High-risk segments are geographically concentrated, making targeted infrastructure or enforcement interventions feasible.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Audience: Operations teams, routing engineers, city planners, non-technical decision makers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📁  Models Folder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40233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4008" cy="374903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Files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toronto_temporal_count_model.pkl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Primary production model (HistGBR). Trained on weather, time-of-day, crash history, and road features. Load this file to generate live risk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toronto_risk_model.joblib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Alternate saved version of an earlier model iteration in joblib format — compatible with scikit-learn's joblib loader.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51560"/>
            <a:ext cx="4114800" cy="3749039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051560"/>
            <a:ext cx="64008" cy="374903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115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This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These are the 'brains' of the system — trained models that can score any road segment at any future date and hour.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Think of the .pkl file as a trained expert who has studied 4 years of Toronto crashes and can answer: 'How risky is this road right now?'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To use in production: load the .pkl file with Python's scikit-learn, pass in road + weather + time features, and receive a risk score (λ) per segment per hour.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E2ECF5"/>
                </a:solidFill>
                <a:latin typeface="Calibri"/>
              </a:rPr>
              <a:t>No retraining needed — these models are ready to deploy.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Audience: ML engineers, data scientists, back-end routing developers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📄  Report 1 — Data Integrity &amp; Leakage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402336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4008" cy="3749039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What It Checked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Time-ordered data split — model trained on older data only; never shown future crashes during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21 potentially 'leaky' variables confirmed absent from model inputs (e.g. future crash counts, fatalities).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950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Top predictors identified: historical crash rate, road length, crash-hour ratio, snow depth.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4787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Test period: May 2021 → April 2025 across 4,475 unique road segments.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51560"/>
            <a:ext cx="4114800" cy="3749039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051560"/>
            <a:ext cx="64008" cy="3749039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115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Plain-Language 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72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The model played fair.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37490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The test was conducted on data the model had never seen before — like a student being tested on questions they've never studied from.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No future information was accidentally used during training. All 21 data leakage checks passed.</a:t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4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The model relies primarily on a road's long-run crash history and its length — sensible, interpretable inputs.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Calibri"/>
              </a:rPr>
              <a:t>Result: Clean data pipeline — no integrity issues found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📄  Report 2 — Model Bake-Off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789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10789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AUC-ROC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10789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Lift@5%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10789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Recall@5%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Naive (random guess)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0.45×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2.3%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38528"/>
            <a:ext cx="8412480" cy="457200"/>
          </a:xfrm>
          <a:prstGeom prst="rect">
            <a:avLst/>
          </a:prstGeom>
          <a:solidFill>
            <a:srgbClr val="E2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0299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Historical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0.91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5A82"/>
                </a:solidFill>
                <a:latin typeface="Calibri"/>
              </a:rPr>
              <a:t>9.86×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49.6%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14016"/>
            <a:ext cx="8412480" cy="457200"/>
          </a:xfrm>
          <a:prstGeom prst="rect">
            <a:avLst/>
          </a:prstGeom>
          <a:solidFill>
            <a:srgbClr val="D4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414016"/>
            <a:ext cx="54864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5054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HistGBR ML Model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2505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0.85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505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9.78×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505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49.2%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99232"/>
            <a:ext cx="8412480" cy="1508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063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56432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CF5"/>
                </a:solidFill>
                <a:latin typeface="Calibri"/>
              </a:rPr>
              <a:t>Both the ML model and the historical rate baseline are ~10× better than random at identifying high-risk segments. The ML model's unique value is temporal precision — it flags not just which roads are dangerous, but which specific hours of day are elevated risk based on weather, traffic patterns, and seasonal factors. A static baseline cannot do this.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AUC-ROC: 1.0 = perfect, 0.5 = random coin flip  |  Lift@5%: 9.78× = 9.78× better than random at top 5%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📄  Report 3 — Business Impact &amp; Routing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37744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21945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Calibri"/>
              </a:rPr>
              <a:t>+566%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6806"/>
            <a:ext cx="2194560" cy="59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improvement in routing
vs. random road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097280"/>
            <a:ext cx="2377440" cy="1417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170432"/>
            <a:ext cx="21945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76806"/>
            <a:ext cx="2194560" cy="59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all crashes captured
by flagging top 5% of roads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237744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170432"/>
            <a:ext cx="21945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Calibri"/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76806"/>
            <a:ext cx="2194560" cy="59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routing simulations run
across random road 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64008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072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Routing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We simulated 1,000 random route decisions: pick 10 candidate road segments, choose which one to avoid. Our model correctly avoided 0.74 crashes per route on average — vs. 0.11 for random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743200"/>
            <a:ext cx="4114800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2743200"/>
            <a:ext cx="64008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8072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Temporal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18688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CF5"/>
                </a:solidFill>
                <a:latin typeface="Calibri"/>
              </a:rPr>
              <a:t>The ML model and historical baseline perform similarly at segment level — both have learned where crashes happen. The ML model uniquely identifies when within a segment risk spikes: e.g. icy conditions at 8 AM on a winter weekday.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Test period: 4,475 segments  |  0.147% crash prevalence  |  325,943 test windows evaluated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023360" cy="3794760"/>
          </a:xfrm>
          <a:prstGeom prst="rect">
            <a:avLst/>
          </a:prstGeom>
          <a:solidFill>
            <a:srgbClr val="0A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4008" cy="3794760"/>
          </a:xfrm>
          <a:prstGeom prst="rect">
            <a:avLst/>
          </a:prstGeom>
          <a:solidFill>
            <a:srgbClr val="F0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Missing Traffic Volume (AADT)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8366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Without vehicle count data, the model can't distinguish a busy arterial from a quiet side street by actual exposure.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50592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Approximate Road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0662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Street suffix types (St, Ave, Rd) are used as a proxy for road function — a rough stand-in for true arterial/collector classification.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Statistical Model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2958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Advanced count models (Negative Binomial, ZINB) require AADT to converge — without it, gradient boosting is the practical best option.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4114800" cy="3794760"/>
          </a:xfrm>
          <a:prstGeom prst="rect">
            <a:avLst/>
          </a:prstGeom>
          <a:solidFill>
            <a:srgbClr val="0A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64008" cy="3794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1704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Priority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62763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1. Add AADT Traffic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18836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The single highest-impact improvement. Unlocks proper rate modelling, ZINB convergence, and more accurate risk calibration.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4505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2. Fix Functional Road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70662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Replace street suffix proxies with Toronto's official road classification layer (speed limits, lane counts, true functional class).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2735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3. Real Temporal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52958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Some time-of-day features are currently estimated statistically — replace with actual crash timestamp aggregations.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0965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4. Re-run Model 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435254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CF5"/>
                </a:solidFill>
                <a:latin typeface="Calibri"/>
              </a:rPr>
              <a:t>With enriched features, expect the ML model gap over simple baselines to widen significantly.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Frequently Asked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4864" cy="11155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Why can't it predict crashes exactly?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35607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Crashes are extremely rare (&lt;0.15% of road-hours) and influenced by factors no model can observe — driver behavior, split-second decisions. What the model does well is rank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5156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51560"/>
            <a:ext cx="54864" cy="11155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12471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Why does the simpler method match the ML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435607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At the full-segment level, historical crash history is already a strong signal. The ML model's edge is temporal: it knows which hours within a segment are especially dangerous.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54864" cy="11155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5915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Is this production-ready?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7004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Validated and routing-ready, but we recommend adding AADT (traffic volume) data before full deployment for proper statistical calibration.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28600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286000"/>
            <a:ext cx="54864" cy="11155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35915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Who should use the interactive map?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67004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Anyone — no technical background needed. Open toronto_risk_map.html in a browser to explore Toronto's risk landscape visually.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54864" cy="11155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5935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What does 'Lift@5%' mean?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90448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If you flag the top 5% riskiest road-hour combinations, you capture ~49% of all real crashes. A 9.78× lift means this is 9.78× better than flagging 5% at random.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52044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3520440"/>
            <a:ext cx="54864" cy="11155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35935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How was the model tested?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390448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Strictly time-ordered: trained on older data, tested on 4 years of future data it had never seen. This prevents the model from 'cheating' by learning from the future.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For full technical detail see the /reports folder  |  Interactive map: /maps/toronto_risk_map.html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To Do With These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4069080" cy="1325880"/>
          </a:xfrm>
          <a:prstGeom prst="rect">
            <a:avLst/>
          </a:prstGeom>
          <a:solidFill>
            <a:srgbClr val="0A4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🗺  Explore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  <a:latin typeface="Calibri"/>
              </a:rPr>
              <a:t>Open /maps/toronto_risk_map.html in your browser. Share with city planners, safety teams, or operations leads.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43000"/>
            <a:ext cx="4069080" cy="1325880"/>
          </a:xfrm>
          <a:prstGeom prst="rect">
            <a:avLst/>
          </a:prstGeom>
          <a:solidFill>
            <a:srgbClr val="0A4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4300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234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📊  Review the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1848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  <a:latin typeface="Calibri"/>
              </a:rPr>
              <a:t>Read 03_business_impact_report.md for the headline numbers. Read 01 and 02 if you want to understand model validity.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4069080" cy="1325880"/>
          </a:xfrm>
          <a:prstGeom prst="rect">
            <a:avLst/>
          </a:prstGeom>
          <a:solidFill>
            <a:srgbClr val="0A4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🤖  Integrate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  <a:latin typeface="Calibri"/>
              </a:rPr>
              <a:t>Load toronto_temporal_count_model.pkl into your routing pipeline. Feed it road + weather + time features to get live risk scores.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651760"/>
            <a:ext cx="4069080" cy="1325880"/>
          </a:xfrm>
          <a:prstGeom prst="rect">
            <a:avLst/>
          </a:prstGeom>
          <a:solidFill>
            <a:srgbClr val="0A4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2651760"/>
            <a:ext cx="64008" cy="1325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743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📈 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2724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  <a:latin typeface="Calibri"/>
              </a:rPr>
              <a:t>Prioritize adding AADT traffic volume data. This single addition unlocks the biggest model improvement available.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Toronto Road Crash Risk Model  |  March 2026  |  Research &amp; Validation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